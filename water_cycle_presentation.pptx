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9BAF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78"/>
    <p:restoredTop sz="94625"/>
  </p:normalViewPr>
  <p:slideViewPr>
    <p:cSldViewPr snapToGrid="0">
      <p:cViewPr varScale="1">
        <p:scale>
          <a:sx n="116" d="100"/>
          <a:sy n="116" d="100"/>
        </p:scale>
        <p:origin x="11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1B65C7F-1042-7247-B75D-B7AC35BA269E}" type="datetimeFigureOut">
              <a:rPr lang="en-US" smtClean="0"/>
              <a:t>12/2/24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231324143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B65C7F-1042-7247-B75D-B7AC35BA269E}" type="datetimeFigureOut">
              <a:rPr lang="en-US" smtClean="0"/>
              <a:t>12/2/24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441705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1B65C7F-1042-7247-B75D-B7AC35BA269E}" type="datetimeFigureOut">
              <a:rPr lang="en-US" smtClean="0"/>
              <a:t>12/2/24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402679156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1B65C7F-1042-7247-B75D-B7AC35BA269E}" type="datetimeFigureOut">
              <a:rPr lang="en-US" smtClean="0"/>
              <a:t>12/2/24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271328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1B65C7F-1042-7247-B75D-B7AC35BA269E}" type="datetimeFigureOut">
              <a:rPr lang="en-US" smtClean="0"/>
              <a:t>12/2/24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37620B-7EC8-9745-A2D2-7CC7C474522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5098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B65C7F-1042-7247-B75D-B7AC35BA269E}" type="datetimeFigureOut">
              <a:rPr lang="en-US" smtClean="0"/>
              <a:t>12/2/24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3574030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B65C7F-1042-7247-B75D-B7AC35BA269E}" type="datetimeFigureOut">
              <a:rPr lang="en-US" smtClean="0"/>
              <a:t>12/2/24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1837732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1B65C7F-1042-7247-B75D-B7AC35BA269E}" type="datetimeFigureOut">
              <a:rPr lang="en-US" smtClean="0"/>
              <a:t>12/2/24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935977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1B65C7F-1042-7247-B75D-B7AC35BA269E}" type="datetimeFigureOut">
              <a:rPr lang="en-US" smtClean="0"/>
              <a:t>12/2/24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180746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B65C7F-1042-7247-B75D-B7AC35BA269E}" type="datetimeFigureOut">
              <a:rPr lang="en-US" smtClean="0"/>
              <a:t>12/2/24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2078654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B65C7F-1042-7247-B75D-B7AC35BA269E}" type="datetimeFigureOut">
              <a:rPr lang="en-US" smtClean="0"/>
              <a:t>12/2/24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37620B-7EC8-9745-A2D2-7CC7C474522D}" type="slidenum">
              <a:rPr lang="en-US" smtClean="0"/>
              <a:t>‹#›</a:t>
            </a:fld>
            <a:endParaRPr lang="en-US"/>
          </a:p>
        </p:txBody>
      </p:sp>
    </p:spTree>
    <p:extLst>
      <p:ext uri="{BB962C8B-B14F-4D97-AF65-F5344CB8AC3E}">
        <p14:creationId xmlns:p14="http://schemas.microsoft.com/office/powerpoint/2010/main" val="1854914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1B65C7F-1042-7247-B75D-B7AC35BA269E}" type="datetimeFigureOut">
              <a:rPr lang="en-US" smtClean="0"/>
              <a:t>12/2/24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C237620B-7EC8-9745-A2D2-7CC7C474522D}" type="slidenum">
              <a:rPr lang="en-US" smtClean="0"/>
              <a:t>‹#›</a:t>
            </a:fld>
            <a:endParaRPr lang="en-US"/>
          </a:p>
        </p:txBody>
      </p:sp>
    </p:spTree>
    <p:extLst>
      <p:ext uri="{BB962C8B-B14F-4D97-AF65-F5344CB8AC3E}">
        <p14:creationId xmlns:p14="http://schemas.microsoft.com/office/powerpoint/2010/main" val="10065089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C2CD36-00A2-5FA0-1D0B-FCF201561C21}"/>
              </a:ext>
            </a:extLst>
          </p:cNvPr>
          <p:cNvSpPr>
            <a:spLocks noGrp="1"/>
          </p:cNvSpPr>
          <p:nvPr>
            <p:ph type="subTitle" idx="1"/>
          </p:nvPr>
        </p:nvSpPr>
        <p:spPr>
          <a:xfrm>
            <a:off x="1262729" y="5499895"/>
            <a:ext cx="9638443" cy="484633"/>
          </a:xfrm>
        </p:spPr>
        <p:txBody>
          <a:bodyPr>
            <a:normAutofit/>
          </a:bodyPr>
          <a:lstStyle/>
          <a:p>
            <a:pPr>
              <a:lnSpc>
                <a:spcPct val="120000"/>
              </a:lnSpc>
            </a:pPr>
            <a:r>
              <a:rPr lang="en-US" dirty="0"/>
              <a:t>CMSE 201, section 005, created by Yihan Wang</a:t>
            </a:r>
          </a:p>
        </p:txBody>
      </p:sp>
      <p:sp>
        <p:nvSpPr>
          <p:cNvPr id="8" name="Rectangle 7">
            <a:extLst>
              <a:ext uri="{FF2B5EF4-FFF2-40B4-BE49-F238E27FC236}">
                <a16:creationId xmlns:a16="http://schemas.microsoft.com/office/drawing/2014/main" id="{84167985-D6E9-40FF-97C0-4B6D373E8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68" y="640080"/>
            <a:ext cx="10911865" cy="462686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8801362-349C-44BE-BEF6-8E926E1D3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196" y="804672"/>
            <a:ext cx="10579608" cy="42976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F72833-8118-009F-BF4C-08D21BB0E6F9}"/>
              </a:ext>
            </a:extLst>
          </p:cNvPr>
          <p:cNvSpPr>
            <a:spLocks noGrp="1"/>
          </p:cNvSpPr>
          <p:nvPr>
            <p:ph type="ctrTitle"/>
          </p:nvPr>
        </p:nvSpPr>
        <p:spPr>
          <a:xfrm>
            <a:off x="1262729" y="1289303"/>
            <a:ext cx="9638443" cy="3339303"/>
          </a:xfrm>
          <a:ln>
            <a:noFill/>
          </a:ln>
        </p:spPr>
        <p:txBody>
          <a:bodyPr>
            <a:normAutofit/>
          </a:bodyPr>
          <a:lstStyle/>
          <a:p>
            <a:r>
              <a:rPr lang="en-US" sz="3200" b="1" i="0" dirty="0">
                <a:effectLst/>
                <a:latin typeface="Times New Roman" panose="02020603050405020304" pitchFamily="18" charset="0"/>
                <a:cs typeface="Times New Roman" panose="02020603050405020304" pitchFamily="18" charset="0"/>
              </a:rPr>
              <a:t>Causes for Percentages of Total Water in Different Carriers in the Water Cycle.</a:t>
            </a:r>
            <a:endParaRPr lang="en-US" sz="3200" dirty="0"/>
          </a:p>
        </p:txBody>
      </p:sp>
    </p:spTree>
    <p:extLst>
      <p:ext uri="{BB962C8B-B14F-4D97-AF65-F5344CB8AC3E}">
        <p14:creationId xmlns:p14="http://schemas.microsoft.com/office/powerpoint/2010/main" val="218769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7978E7-9003-F370-3095-9AAC9140FF9D}"/>
              </a:ext>
            </a:extLst>
          </p:cNvPr>
          <p:cNvSpPr>
            <a:spLocks noGrp="1"/>
          </p:cNvSpPr>
          <p:nvPr>
            <p:ph idx="1"/>
          </p:nvPr>
        </p:nvSpPr>
        <p:spPr>
          <a:xfrm>
            <a:off x="1706062" y="1669322"/>
            <a:ext cx="8779512" cy="3501196"/>
          </a:xfrm>
        </p:spPr>
        <p:txBody>
          <a:bodyPr>
            <a:normAutofit fontScale="92500"/>
          </a:bodyPr>
          <a:lstStyle/>
          <a:p>
            <a:r>
              <a:rPr lang="en-US" dirty="0">
                <a:latin typeface="Times New Roman" panose="02020603050405020304" pitchFamily="18" charset="0"/>
                <a:cs typeface="Times New Roman" panose="02020603050405020304" pitchFamily="18" charset="0"/>
              </a:rPr>
              <a:t>The research question for this project is, w</a:t>
            </a:r>
            <a:r>
              <a:rPr lang="en-US" b="0" i="0" dirty="0">
                <a:effectLst/>
                <a:latin typeface="Times New Roman" panose="02020603050405020304" pitchFamily="18" charset="0"/>
                <a:cs typeface="Times New Roman" panose="02020603050405020304" pitchFamily="18" charset="0"/>
              </a:rPr>
              <a:t>hat affects the percentage of total water in different carriers in the water cycle?</a:t>
            </a:r>
          </a:p>
          <a:p>
            <a:r>
              <a:rPr lang="en-US" dirty="0">
                <a:latin typeface="Times New Roman" panose="02020603050405020304" pitchFamily="18" charset="0"/>
                <a:cs typeface="Times New Roman" panose="02020603050405020304" pitchFamily="18" charset="0"/>
              </a:rPr>
              <a:t>The model that I applied to my chosen topic for this project is water cycle compartmental model</a:t>
            </a:r>
          </a:p>
          <a:p>
            <a:r>
              <a:rPr lang="en-US" dirty="0">
                <a:latin typeface="Times New Roman" panose="02020603050405020304" pitchFamily="18" charset="0"/>
                <a:cs typeface="Times New Roman" panose="02020603050405020304" pitchFamily="18" charset="0"/>
              </a:rPr>
              <a:t>The computational techniques that I used to run my model are numerical simulation with ordinary differential equations, data visualization, parameter definition and initialization, and percentage analysis.</a:t>
            </a:r>
          </a:p>
          <a:p>
            <a:r>
              <a:rPr lang="en-US" dirty="0">
                <a:latin typeface="Times New Roman" panose="02020603050405020304" pitchFamily="18" charset="0"/>
                <a:cs typeface="Times New Roman" panose="02020603050405020304" pitchFamily="18" charset="0"/>
              </a:rPr>
              <a:t>The answer I arrived at is that, </a:t>
            </a:r>
            <a:r>
              <a:rPr lang="en-US" b="0" i="0" dirty="0">
                <a:effectLst/>
                <a:latin typeface="Times New Roman" panose="02020603050405020304" pitchFamily="18" charset="0"/>
                <a:cs typeface="Times New Roman" panose="02020603050405020304" pitchFamily="18" charset="0"/>
              </a:rPr>
              <a:t> </a:t>
            </a:r>
          </a:p>
          <a:p>
            <a:pPr lvl="1"/>
            <a:r>
              <a:rPr lang="en-US" b="0" i="0" dirty="0">
                <a:effectLst/>
                <a:latin typeface="Times New Roman" panose="02020603050405020304" pitchFamily="18" charset="0"/>
                <a:cs typeface="Times New Roman" panose="02020603050405020304" pitchFamily="18" charset="0"/>
              </a:rPr>
              <a:t>if the water cycle is simple, circling one way, and fixed water flow rate, then no matter what kind of water distribution initially, the distribution after several days only depends on the rate of water flow in each carrier. </a:t>
            </a:r>
          </a:p>
          <a:p>
            <a:pPr lvl="1"/>
            <a:r>
              <a:rPr lang="en-US" b="0" i="0" dirty="0">
                <a:effectLst/>
                <a:latin typeface="Times New Roman" panose="02020603050405020304" pitchFamily="18" charset="0"/>
                <a:cs typeface="Times New Roman" panose="02020603050405020304" pitchFamily="18" charset="0"/>
              </a:rPr>
              <a:t>For more complicated water cycle, initial water distribution and rate of water flow both matters.</a:t>
            </a:r>
            <a:endParaRPr lang="en-US" dirty="0">
              <a:latin typeface="Times New Roman" panose="02020603050405020304" pitchFamily="18" charset="0"/>
              <a:cs typeface="Times New Roman" panose="02020603050405020304" pitchFamily="18" charset="0"/>
            </a:endParaRPr>
          </a:p>
          <a:p>
            <a:endParaRPr lang="en-US" dirty="0">
              <a:solidFill>
                <a:srgbClr val="404040"/>
              </a:solidFill>
            </a:endParaRPr>
          </a:p>
        </p:txBody>
      </p:sp>
    </p:spTree>
    <p:extLst>
      <p:ext uri="{BB962C8B-B14F-4D97-AF65-F5344CB8AC3E}">
        <p14:creationId xmlns:p14="http://schemas.microsoft.com/office/powerpoint/2010/main" val="3443523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1D6FA8-9529-02D8-6AF1-1B6110519042}"/>
              </a:ext>
            </a:extLst>
          </p:cNvPr>
          <p:cNvSpPr txBox="1"/>
          <p:nvPr/>
        </p:nvSpPr>
        <p:spPr>
          <a:xfrm>
            <a:off x="976006" y="2078274"/>
            <a:ext cx="3063765" cy="2701451"/>
          </a:xfrm>
          <a:prstGeom prst="rect">
            <a:avLst/>
          </a:prstGeom>
        </p:spPr>
        <p:txBody>
          <a:bodyPr vert="horz" lIns="91440" tIns="45720" rIns="91440" bIns="45720" rtlCol="0">
            <a:normAutofit/>
          </a:bodyPr>
          <a:lstStyle/>
          <a:p>
            <a:pPr defTabSz="914400">
              <a:spcBef>
                <a:spcPts val="1000"/>
              </a:spcBef>
              <a:buClr>
                <a:schemeClr val="accent2"/>
              </a:buClr>
            </a:pPr>
            <a:r>
              <a:rPr lang="en-US" dirty="0">
                <a:solidFill>
                  <a:schemeClr val="tx1">
                    <a:lumMod val="85000"/>
                    <a:lumOff val="15000"/>
                  </a:schemeClr>
                </a:solidFill>
              </a:rPr>
              <a:t>To answer the question, I first created an Evaporation, Condensation, and Precipitation Model.</a:t>
            </a:r>
          </a:p>
          <a:p>
            <a:pPr defTabSz="914400">
              <a:spcBef>
                <a:spcPts val="1000"/>
              </a:spcBef>
              <a:buClr>
                <a:schemeClr val="accent2"/>
              </a:buClr>
            </a:pPr>
            <a:r>
              <a:rPr lang="en-US" dirty="0">
                <a:solidFill>
                  <a:schemeClr val="tx1">
                    <a:lumMod val="85000"/>
                    <a:lumOff val="15000"/>
                  </a:schemeClr>
                </a:solidFill>
              </a:rPr>
              <a:t>W</a:t>
            </a:r>
            <a:r>
              <a:rPr lang="en-US" b="0" i="0" dirty="0">
                <a:solidFill>
                  <a:schemeClr val="tx1">
                    <a:lumMod val="85000"/>
                    <a:lumOff val="15000"/>
                  </a:schemeClr>
                </a:solidFill>
                <a:effectLst/>
              </a:rPr>
              <a:t>ater traveling through the three compartments, can be represented graphically as a compartmental model</a:t>
            </a:r>
            <a:endParaRPr lang="en-US" dirty="0">
              <a:solidFill>
                <a:schemeClr val="tx1">
                  <a:lumMod val="85000"/>
                  <a:lumOff val="15000"/>
                </a:schemeClr>
              </a:solidFill>
            </a:endParaRPr>
          </a:p>
        </p:txBody>
      </p:sp>
      <p:sp>
        <p:nvSpPr>
          <p:cNvPr id="12" name="Rectangle 11">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diagram&#10;&#10;Description automatically generated">
            <a:extLst>
              <a:ext uri="{FF2B5EF4-FFF2-40B4-BE49-F238E27FC236}">
                <a16:creationId xmlns:a16="http://schemas.microsoft.com/office/drawing/2014/main" id="{50A6552F-4580-3DFA-97CF-A82664EE781F}"/>
              </a:ext>
            </a:extLst>
          </p:cNvPr>
          <p:cNvPicPr>
            <a:picLocks noChangeAspect="1"/>
          </p:cNvPicPr>
          <p:nvPr/>
        </p:nvPicPr>
        <p:blipFill>
          <a:blip r:embed="rId2"/>
          <a:stretch>
            <a:fillRect/>
          </a:stretch>
        </p:blipFill>
        <p:spPr>
          <a:xfrm>
            <a:off x="4823366" y="1930692"/>
            <a:ext cx="6227064" cy="3004557"/>
          </a:xfrm>
          <a:prstGeom prst="rect">
            <a:avLst/>
          </a:prstGeom>
        </p:spPr>
      </p:pic>
    </p:spTree>
    <p:extLst>
      <p:ext uri="{BB962C8B-B14F-4D97-AF65-F5344CB8AC3E}">
        <p14:creationId xmlns:p14="http://schemas.microsoft.com/office/powerpoint/2010/main" val="3563369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10;&#10;Description automatically generated">
            <a:extLst>
              <a:ext uri="{FF2B5EF4-FFF2-40B4-BE49-F238E27FC236}">
                <a16:creationId xmlns:a16="http://schemas.microsoft.com/office/drawing/2014/main" id="{DC452576-3BE7-6418-EF06-FF2DE4FA0CE4}"/>
              </a:ext>
            </a:extLst>
          </p:cNvPr>
          <p:cNvPicPr>
            <a:picLocks noGrp="1" noChangeAspect="1"/>
          </p:cNvPicPr>
          <p:nvPr>
            <p:ph idx="1"/>
          </p:nvPr>
        </p:nvPicPr>
        <p:blipFill>
          <a:blip r:embed="rId2"/>
          <a:stretch>
            <a:fillRect/>
          </a:stretch>
        </p:blipFill>
        <p:spPr>
          <a:xfrm>
            <a:off x="471562" y="1197650"/>
            <a:ext cx="5735039" cy="5312878"/>
          </a:xfrm>
        </p:spPr>
      </p:pic>
      <p:pic>
        <p:nvPicPr>
          <p:cNvPr id="7" name="Picture 6" descr="A screenshot of a computer screen&#10;&#10;Description automatically generated">
            <a:extLst>
              <a:ext uri="{FF2B5EF4-FFF2-40B4-BE49-F238E27FC236}">
                <a16:creationId xmlns:a16="http://schemas.microsoft.com/office/drawing/2014/main" id="{1C8731CD-FB21-42D1-E709-16E807F53D59}"/>
              </a:ext>
            </a:extLst>
          </p:cNvPr>
          <p:cNvPicPr>
            <a:picLocks noChangeAspect="1"/>
          </p:cNvPicPr>
          <p:nvPr/>
        </p:nvPicPr>
        <p:blipFill>
          <a:blip r:embed="rId3"/>
          <a:stretch>
            <a:fillRect/>
          </a:stretch>
        </p:blipFill>
        <p:spPr>
          <a:xfrm>
            <a:off x="6309359" y="1194818"/>
            <a:ext cx="5600056" cy="5315710"/>
          </a:xfrm>
          <a:prstGeom prst="rect">
            <a:avLst/>
          </a:prstGeom>
        </p:spPr>
      </p:pic>
      <p:sp>
        <p:nvSpPr>
          <p:cNvPr id="8" name="TextBox 7">
            <a:extLst>
              <a:ext uri="{FF2B5EF4-FFF2-40B4-BE49-F238E27FC236}">
                <a16:creationId xmlns:a16="http://schemas.microsoft.com/office/drawing/2014/main" id="{ADD33C3A-A882-CB5A-C260-1BF88F65DF15}"/>
              </a:ext>
            </a:extLst>
          </p:cNvPr>
          <p:cNvSpPr txBox="1"/>
          <p:nvPr/>
        </p:nvSpPr>
        <p:spPr>
          <a:xfrm>
            <a:off x="619617" y="347472"/>
            <a:ext cx="11173968" cy="646331"/>
          </a:xfrm>
          <a:prstGeom prst="rect">
            <a:avLst/>
          </a:prstGeom>
          <a:noFill/>
        </p:spPr>
        <p:txBody>
          <a:bodyPr wrap="square" rtlCol="0">
            <a:spAutoFit/>
          </a:bodyPr>
          <a:lstStyle/>
          <a:p>
            <a:r>
              <a:rPr lang="en-US" dirty="0"/>
              <a:t>On the left is testing the affect of changing initial water distribution on final water distribution. On the right is testing the affect of changing water flow rate of each compartments on final water distribution.</a:t>
            </a:r>
          </a:p>
        </p:txBody>
      </p:sp>
    </p:spTree>
    <p:extLst>
      <p:ext uri="{BB962C8B-B14F-4D97-AF65-F5344CB8AC3E}">
        <p14:creationId xmlns:p14="http://schemas.microsoft.com/office/powerpoint/2010/main" val="884836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F58212C-EDBA-59A7-C45C-1F7DCABE7BF4}"/>
              </a:ext>
            </a:extLst>
          </p:cNvPr>
          <p:cNvSpPr>
            <a:spLocks noGrp="1"/>
          </p:cNvSpPr>
          <p:nvPr>
            <p:ph idx="1"/>
          </p:nvPr>
        </p:nvSpPr>
        <p:spPr>
          <a:xfrm>
            <a:off x="812386" y="2078274"/>
            <a:ext cx="3063765" cy="2701451"/>
          </a:xfrm>
        </p:spPr>
        <p:txBody>
          <a:bodyPr>
            <a:normAutofit fontScale="92500" lnSpcReduction="20000"/>
          </a:bodyPr>
          <a:lstStyle/>
          <a:p>
            <a:r>
              <a:rPr lang="en-US" dirty="0"/>
              <a:t>Another simple water cycle model, Ocean, Deep Ground, Atmosphere, and River Model was created to help answer the question. This time it was designed to reflex real life situation more.</a:t>
            </a:r>
          </a:p>
          <a:p>
            <a:r>
              <a:rPr lang="en-US" dirty="0">
                <a:solidFill>
                  <a:schemeClr val="tx1">
                    <a:lumMod val="85000"/>
                    <a:lumOff val="15000"/>
                  </a:schemeClr>
                </a:solidFill>
              </a:rPr>
              <a:t>W</a:t>
            </a:r>
            <a:r>
              <a:rPr lang="en-US" b="0" i="0" dirty="0">
                <a:solidFill>
                  <a:schemeClr val="tx1">
                    <a:lumMod val="85000"/>
                    <a:lumOff val="15000"/>
                  </a:schemeClr>
                </a:solidFill>
                <a:effectLst/>
              </a:rPr>
              <a:t>ater traveling through the compartments can be represented graphically as a compartmental model</a:t>
            </a:r>
            <a:endParaRPr lang="en-US" dirty="0"/>
          </a:p>
          <a:p>
            <a:pPr marL="0" indent="0">
              <a:buNone/>
            </a:pPr>
            <a:endParaRPr lang="en-US" dirty="0"/>
          </a:p>
        </p:txBody>
      </p:sp>
      <p:sp>
        <p:nvSpPr>
          <p:cNvPr id="12" name="Rectangle 11">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1C749F6-7984-C070-747A-9468EF940A60}"/>
              </a:ext>
            </a:extLst>
          </p:cNvPr>
          <p:cNvPicPr>
            <a:picLocks noChangeAspect="1"/>
          </p:cNvPicPr>
          <p:nvPr/>
        </p:nvPicPr>
        <p:blipFill>
          <a:blip r:embed="rId2"/>
          <a:stretch>
            <a:fillRect/>
          </a:stretch>
        </p:blipFill>
        <p:spPr>
          <a:xfrm>
            <a:off x="4823366" y="2016315"/>
            <a:ext cx="6227064" cy="2833312"/>
          </a:xfrm>
          <a:prstGeom prst="rect">
            <a:avLst/>
          </a:prstGeom>
        </p:spPr>
      </p:pic>
    </p:spTree>
    <p:extLst>
      <p:ext uri="{BB962C8B-B14F-4D97-AF65-F5344CB8AC3E}">
        <p14:creationId xmlns:p14="http://schemas.microsoft.com/office/powerpoint/2010/main" val="405768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5B696D34-CCAD-B860-057E-5010A48B6F6A}"/>
              </a:ext>
            </a:extLst>
          </p:cNvPr>
          <p:cNvPicPr>
            <a:picLocks noChangeAspect="1"/>
          </p:cNvPicPr>
          <p:nvPr/>
        </p:nvPicPr>
        <p:blipFill>
          <a:blip r:embed="rId2"/>
          <a:stretch>
            <a:fillRect/>
          </a:stretch>
        </p:blipFill>
        <p:spPr>
          <a:xfrm>
            <a:off x="341376" y="182880"/>
            <a:ext cx="6850232" cy="6492240"/>
          </a:xfrm>
          <a:prstGeom prst="rect">
            <a:avLst/>
          </a:prstGeom>
        </p:spPr>
      </p:pic>
      <p:sp>
        <p:nvSpPr>
          <p:cNvPr id="6" name="TextBox 5">
            <a:extLst>
              <a:ext uri="{FF2B5EF4-FFF2-40B4-BE49-F238E27FC236}">
                <a16:creationId xmlns:a16="http://schemas.microsoft.com/office/drawing/2014/main" id="{8F6B9F7B-04B0-B395-27A7-D947E1F519E3}"/>
              </a:ext>
            </a:extLst>
          </p:cNvPr>
          <p:cNvSpPr txBox="1"/>
          <p:nvPr/>
        </p:nvSpPr>
        <p:spPr>
          <a:xfrm>
            <a:off x="7626096" y="2274838"/>
            <a:ext cx="3236976" cy="2308324"/>
          </a:xfrm>
          <a:prstGeom prst="rect">
            <a:avLst/>
          </a:prstGeom>
          <a:noFill/>
        </p:spPr>
        <p:txBody>
          <a:bodyPr wrap="square" rtlCol="0">
            <a:spAutoFit/>
          </a:bodyPr>
          <a:lstStyle/>
          <a:p>
            <a:r>
              <a:rPr lang="en-US" dirty="0"/>
              <a:t>One the left is testing how changing initial water distribution affects final water distribution for the compartments in Ocean, Groundwater, River, and Atmosphere Model that reflects real life scenario.</a:t>
            </a:r>
          </a:p>
        </p:txBody>
      </p:sp>
    </p:spTree>
    <p:extLst>
      <p:ext uri="{BB962C8B-B14F-4D97-AF65-F5344CB8AC3E}">
        <p14:creationId xmlns:p14="http://schemas.microsoft.com/office/powerpoint/2010/main" val="419005368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329</TotalTime>
  <Words>314</Words>
  <Application>Microsoft Macintosh PowerPoint</Application>
  <PresentationFormat>Widescreen</PresentationFormat>
  <Paragraphs>14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Gill Sans MT</vt:lpstr>
      <vt:lpstr>Times New Roman</vt:lpstr>
      <vt:lpstr>Parcel</vt:lpstr>
      <vt:lpstr>Causes for Percentages of Total Water in Different Carriers in the Water Cycle.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Yihan</dc:creator>
  <cp:lastModifiedBy>Wang, Yihan</cp:lastModifiedBy>
  <cp:revision>2</cp:revision>
  <dcterms:created xsi:type="dcterms:W3CDTF">2024-12-02T02:13:46Z</dcterms:created>
  <dcterms:modified xsi:type="dcterms:W3CDTF">2024-12-02T18:57:39Z</dcterms:modified>
</cp:coreProperties>
</file>